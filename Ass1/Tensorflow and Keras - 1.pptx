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7erofHDJ3wRUGcxWEICP+bJEh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9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5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5"/>
          <p:cNvSpPr txBox="1"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ctr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9" name="Google Shape;19;p2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2" name="Google Shape;22;p25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26" name="Google Shape;26;p2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2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27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>
                <a:solidFill>
                  <a:srgbClr val="262626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27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400"/>
              <a:buNone/>
              <a:defRPr sz="24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2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7" name="Google Shape;37;p27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8"/>
          <p:cNvSpPr txBox="1">
            <a:spLocks noGrp="1"/>
          </p:cNvSpPr>
          <p:nvPr>
            <p:ph type="body" idx="1"/>
          </p:nvPr>
        </p:nvSpPr>
        <p:spPr>
          <a:xfrm>
            <a:off x="1097279" y="1845734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1" name="Google Shape;41;p28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2" name="Google Shape;42;p2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9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29"/>
          <p:cNvSpPr txBox="1">
            <a:spLocks noGrp="1"/>
          </p:cNvSpPr>
          <p:nvPr>
            <p:ph type="body" idx="2"/>
          </p:nvPr>
        </p:nvSpPr>
        <p:spPr>
          <a:xfrm>
            <a:off x="109728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49" name="Google Shape;49;p29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  <a:defRPr sz="2000" b="0" cap="none">
                <a:solidFill>
                  <a:schemeClr val="dk2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29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3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3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3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2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32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32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32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33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8" name="Google Shape;78;p33"/>
          <p:cNvPicPr preferRelativeResize="0">
            <a:picLocks noGrp="1"/>
          </p:cNvPicPr>
          <p:nvPr>
            <p:ph type="pic" idx="2"/>
          </p:nvPr>
        </p:nvPicPr>
        <p:blipFill/>
        <p:spPr>
          <a:xfrm>
            <a:off x="15" y="0"/>
            <a:ext cx="12191985" cy="4915076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pic>
      <p:sp>
        <p:nvSpPr>
          <p:cNvPr id="79" name="Google Shape;79;p33"/>
          <p:cNvSpPr txBox="1">
            <a:spLocks noGrp="1"/>
          </p:cNvSpPr>
          <p:nvPr>
            <p:ph type="body" idx="1"/>
          </p:nvPr>
        </p:nvSpPr>
        <p:spPr>
          <a:xfrm>
            <a:off x="1097280" y="5907023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00"/>
              <a:buNone/>
              <a:defRPr sz="10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900"/>
              <a:buNone/>
              <a:defRPr sz="9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80" name="Google Shape;80;p3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3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3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3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34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86" name="Google Shape;86;p3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3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3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35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3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35"/>
          <p:cNvSpPr txBox="1">
            <a:spLocks noGrp="1"/>
          </p:cNvSpPr>
          <p:nvPr>
            <p:ph type="title"/>
          </p:nvPr>
        </p:nvSpPr>
        <p:spPr>
          <a:xfrm rot="5400000">
            <a:off x="7160640" y="1979039"/>
            <a:ext cx="5757421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35"/>
          <p:cNvSpPr txBox="1">
            <a:spLocks noGrp="1"/>
          </p:cNvSpPr>
          <p:nvPr>
            <p:ph type="body" idx="1"/>
          </p:nvPr>
        </p:nvSpPr>
        <p:spPr>
          <a:xfrm rot="5400000">
            <a:off x="1826639" y="-573661"/>
            <a:ext cx="5757422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800"/>
              <a:buChar char=" "/>
              <a:defRPr/>
            </a:lvl1pPr>
            <a:lvl2pPr marL="914400" lvl="1" indent="-34290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800"/>
              <a:buChar char="◦"/>
              <a:defRPr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3pPr>
            <a:lvl4pPr marL="1828800" lvl="3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4pPr>
            <a:lvl5pPr marL="2286000" lvl="4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5pPr>
            <a:lvl6pPr marL="2743200" lvl="5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6pPr>
            <a:lvl7pPr marL="3200400" lvl="6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7pPr>
            <a:lvl8pPr marL="3657600" lvl="7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◦"/>
              <a:defRPr/>
            </a:lvl8pPr>
            <a:lvl9pPr marL="4114800" lvl="8" indent="-342900" algn="l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SzPts val="1800"/>
              <a:buChar char="◦"/>
              <a:defRPr/>
            </a:lvl9pPr>
          </a:lstStyle>
          <a:p>
            <a:endParaRPr/>
          </a:p>
        </p:txBody>
      </p:sp>
      <p:sp>
        <p:nvSpPr>
          <p:cNvPr id="94" name="Google Shape;94;p3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3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3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4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24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2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24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2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2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3" name="Google Shape;13;p24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" descr="Getting started with TensorFlow: Writing your first program - Knoldus Blog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8307" y="375781"/>
            <a:ext cx="2444329" cy="208323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"/>
          <p:cNvSpPr txBox="1"/>
          <p:nvPr/>
        </p:nvSpPr>
        <p:spPr>
          <a:xfrm>
            <a:off x="1968674" y="2413804"/>
            <a:ext cx="8254652" cy="193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TensorFlow and Keras</a:t>
            </a:r>
            <a:endParaRPr sz="6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3" name="Google Shape;103;p1" descr="Keras Tutorial | Deep Learning with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715500" y="469660"/>
            <a:ext cx="1905000" cy="1895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"/>
          <p:cNvSpPr txBox="1"/>
          <p:nvPr/>
        </p:nvSpPr>
        <p:spPr>
          <a:xfrm>
            <a:off x="1177446" y="663879"/>
            <a:ext cx="5311036" cy="1015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Agenda</a:t>
            </a:r>
            <a:endParaRPr sz="60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" name="Google Shape;109;p2" descr="Checklist - Free files and folders icons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808934" y="2382489"/>
            <a:ext cx="2966125" cy="2966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/>
        </p:nvSpPr>
        <p:spPr>
          <a:xfrm>
            <a:off x="1014608" y="1903956"/>
            <a:ext cx="5081392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AutoNum type="arabicPeriod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is deep learning 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"/>
          <p:cNvSpPr/>
          <p:nvPr/>
        </p:nvSpPr>
        <p:spPr>
          <a:xfrm>
            <a:off x="997906" y="1453018"/>
            <a:ext cx="10826663" cy="57619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3"/>
          <p:cNvCxnSpPr/>
          <p:nvPr/>
        </p:nvCxnSpPr>
        <p:spPr>
          <a:xfrm>
            <a:off x="624000" y="1189972"/>
            <a:ext cx="10944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7" name="Google Shape;117;p3"/>
          <p:cNvSpPr txBox="1"/>
          <p:nvPr/>
        </p:nvSpPr>
        <p:spPr>
          <a:xfrm>
            <a:off x="3221275" y="395479"/>
            <a:ext cx="7102258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deep learning </a:t>
            </a:r>
            <a:endParaRPr sz="4400"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8" name="Google Shape;118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363" y="-9725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3" descr="transparent background PNG clipart ..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49667" y="297575"/>
            <a:ext cx="711681" cy="76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3"/>
          <p:cNvSpPr/>
          <p:nvPr/>
        </p:nvSpPr>
        <p:spPr>
          <a:xfrm>
            <a:off x="1279881" y="2790549"/>
            <a:ext cx="6150300" cy="3031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29835" y="2617938"/>
            <a:ext cx="5162804" cy="27626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04934" y="3482233"/>
            <a:ext cx="2219635" cy="7811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67431" y="3613439"/>
            <a:ext cx="2848373" cy="7716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3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058296" y="5821842"/>
            <a:ext cx="2810267" cy="80021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3"/>
          <p:cNvSpPr/>
          <p:nvPr/>
        </p:nvSpPr>
        <p:spPr>
          <a:xfrm>
            <a:off x="3325408" y="3816650"/>
            <a:ext cx="490603" cy="26077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/>
          <p:nvPr/>
        </p:nvSpPr>
        <p:spPr>
          <a:xfrm>
            <a:off x="9015163" y="3742423"/>
            <a:ext cx="490603" cy="26077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3"/>
          <p:cNvSpPr/>
          <p:nvPr/>
        </p:nvSpPr>
        <p:spPr>
          <a:xfrm rot="5400000">
            <a:off x="6175962" y="5451104"/>
            <a:ext cx="357998" cy="21693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134" name="Google Shape;134;p4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135" name="Google Shape;135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4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8485549" y="6172506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143" name="Google Shape;143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144" name="Google Shape;144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5"/>
          <p:cNvSpPr/>
          <p:nvPr/>
        </p:nvSpPr>
        <p:spPr>
          <a:xfrm>
            <a:off x="1878904" y="1526922"/>
            <a:ext cx="3707704" cy="34196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899759" y="1308031"/>
            <a:ext cx="2292263" cy="779741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955827" y="1308031"/>
            <a:ext cx="1981477" cy="75258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5"/>
          <p:cNvSpPr txBox="1"/>
          <p:nvPr/>
        </p:nvSpPr>
        <p:spPr>
          <a:xfrm>
            <a:off x="2220865" y="1456804"/>
            <a:ext cx="735778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Originally developed by the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Google Brain Team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within Google’s Machine Intelligence research organization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156" name="Google Shape;156;p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157" name="Google Shape;15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6"/>
          <p:cNvSpPr/>
          <p:nvPr/>
        </p:nvSpPr>
        <p:spPr>
          <a:xfrm>
            <a:off x="2893512" y="2556868"/>
            <a:ext cx="5047989" cy="46346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7941501" y="2023963"/>
            <a:ext cx="2505206" cy="150837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0" name="Google Shape;160;p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11522" y="2400841"/>
            <a:ext cx="1562318" cy="1009791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6"/>
          <p:cNvSpPr txBox="1"/>
          <p:nvPr/>
        </p:nvSpPr>
        <p:spPr>
          <a:xfrm>
            <a:off x="2893512" y="2465433"/>
            <a:ext cx="712146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TensorFlow is a deep learning framework adopted both in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production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originally developed to run large numerical computations</a:t>
            </a:r>
            <a:endParaRPr sz="18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169" name="Google Shape;169;p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170" name="Google Shape;170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7"/>
          <p:cNvSpPr/>
          <p:nvPr/>
        </p:nvSpPr>
        <p:spPr>
          <a:xfrm>
            <a:off x="2956142" y="3857414"/>
            <a:ext cx="7189940" cy="43901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2956142" y="3880929"/>
            <a:ext cx="710225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Accepts data in form of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multidimensional arrays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higher dimensions called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Tensors</a:t>
            </a:r>
            <a:endParaRPr/>
          </a:p>
        </p:txBody>
      </p:sp>
      <p:sp>
        <p:nvSpPr>
          <p:cNvPr id="173" name="Google Shape;173;p7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7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180" name="Google Shape;180;p8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181" name="Google Shape;181;p8"/>
          <p:cNvPicPr preferRelativeResize="0"/>
          <p:nvPr/>
        </p:nvPicPr>
        <p:blipFill rotWithShape="1">
          <a:blip r:embed="rId3">
            <a:alphaModFix/>
          </a:blip>
          <a:srcRect b="8950"/>
          <a:stretch>
            <a:fillRect/>
          </a:stretch>
        </p:blipFill>
        <p:spPr>
          <a:xfrm>
            <a:off x="0" y="0"/>
            <a:ext cx="12192000" cy="624424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8"/>
          <p:cNvSpPr/>
          <p:nvPr/>
        </p:nvSpPr>
        <p:spPr>
          <a:xfrm>
            <a:off x="1874728" y="5143715"/>
            <a:ext cx="10058400" cy="145075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8"/>
          <p:cNvSpPr/>
          <p:nvPr/>
        </p:nvSpPr>
        <p:spPr>
          <a:xfrm>
            <a:off x="7678455" y="3857414"/>
            <a:ext cx="2492679" cy="1704142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4" name="Google Shape;184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027862" y="4291342"/>
            <a:ext cx="1905266" cy="1952898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8"/>
          <p:cNvSpPr txBox="1"/>
          <p:nvPr/>
        </p:nvSpPr>
        <p:spPr>
          <a:xfrm>
            <a:off x="2099362" y="5068994"/>
            <a:ext cx="8071772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open source software library for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numerical computation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works on the basis of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Flow Graph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have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nodes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and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edges</a:t>
            </a:r>
            <a:endParaRPr/>
          </a:p>
        </p:txBody>
      </p:sp>
    </p:spTree>
  </p:cSld>
  <p:clrMapOvr>
    <a:masterClrMapping/>
  </p:clrMapOvr>
  <p:transition spd="slow">
    <p:push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191" name="Google Shape;191;p9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192" name="Google Shape;19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/>
          <p:nvPr/>
        </p:nvSpPr>
        <p:spPr>
          <a:xfrm>
            <a:off x="10133556" y="6229890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200" name="Google Shape;200;p1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201" name="Google Shape;201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10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209" name="Google Shape;209;p1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210" name="Google Shape;21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11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218" name="Google Shape;218;p1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219" name="Google Shape;219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2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227" name="Google Shape;227;p1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228" name="Google Shape;228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3"/>
          <p:cNvSpPr/>
          <p:nvPr/>
        </p:nvSpPr>
        <p:spPr>
          <a:xfrm>
            <a:off x="10133556" y="6102521"/>
            <a:ext cx="1916482" cy="561325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/>
          <p:nvPr/>
        </p:nvSpPr>
        <p:spPr>
          <a:xfrm>
            <a:off x="141962" y="6175332"/>
            <a:ext cx="3638810" cy="675614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236" name="Google Shape;236;p14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237" name="Google Shape;237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14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15"/>
          <p:cNvPicPr preferRelativeResize="0"/>
          <p:nvPr/>
        </p:nvPicPr>
        <p:blipFill rotWithShape="1">
          <a:blip r:embed="rId3">
            <a:alphaModFix/>
          </a:blip>
          <a:srcRect b="25333"/>
          <a:stretch/>
        </p:blipFill>
        <p:spPr>
          <a:xfrm>
            <a:off x="1062624" y="209770"/>
            <a:ext cx="10066751" cy="5637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push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250" name="Google Shape;250;p16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251" name="Google Shape;251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56633" y="103173"/>
            <a:ext cx="1158266" cy="885733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16"/>
          <p:cNvSpPr/>
          <p:nvPr/>
        </p:nvSpPr>
        <p:spPr>
          <a:xfrm>
            <a:off x="175364" y="1277655"/>
            <a:ext cx="11348581" cy="4591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4" name="Google Shape;254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202155" y="3113410"/>
            <a:ext cx="1419423" cy="1238423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16"/>
          <p:cNvSpPr/>
          <p:nvPr/>
        </p:nvSpPr>
        <p:spPr>
          <a:xfrm>
            <a:off x="4872624" y="2901678"/>
            <a:ext cx="814192" cy="425885"/>
          </a:xfrm>
          <a:prstGeom prst="ellipse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6"/>
          <p:cNvSpPr/>
          <p:nvPr/>
        </p:nvSpPr>
        <p:spPr>
          <a:xfrm>
            <a:off x="6273819" y="2969602"/>
            <a:ext cx="814192" cy="425885"/>
          </a:xfrm>
          <a:prstGeom prst="ellipse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6"/>
          <p:cNvSpPr txBox="1"/>
          <p:nvPr/>
        </p:nvSpPr>
        <p:spPr>
          <a:xfrm>
            <a:off x="7525073" y="1920800"/>
            <a:ext cx="355201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both C++ and Python API’s that makes it easier to work on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6"/>
          <p:cNvSpPr txBox="1"/>
          <p:nvPr/>
        </p:nvSpPr>
        <p:spPr>
          <a:xfrm>
            <a:off x="922139" y="3474751"/>
            <a:ext cx="326698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TensorFlow supports both CPU’s and GPU’s computing devices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6"/>
          <p:cNvSpPr txBox="1"/>
          <p:nvPr/>
        </p:nvSpPr>
        <p:spPr>
          <a:xfrm>
            <a:off x="7525073" y="5060364"/>
            <a:ext cx="421882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 the visualization of graph which is not an option with Scikit or NumPy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6"/>
          <p:cNvSpPr txBox="1"/>
          <p:nvPr/>
        </p:nvSpPr>
        <p:spPr>
          <a:xfrm>
            <a:off x="877329" y="4921864"/>
            <a:ext cx="4218823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parallel neural networking. Allows batch normalization and optimization of algorithms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6"/>
          <p:cNvSpPr txBox="1"/>
          <p:nvPr/>
        </p:nvSpPr>
        <p:spPr>
          <a:xfrm>
            <a:off x="889156" y="1929977"/>
            <a:ext cx="372737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is open source and backed by a large community of software engineers including google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6"/>
          <p:cNvSpPr txBox="1"/>
          <p:nvPr/>
        </p:nvSpPr>
        <p:spPr>
          <a:xfrm>
            <a:off x="7811966" y="3182545"/>
            <a:ext cx="3857377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faster compilation time than other Deep Learning Libraries like Torch,etc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6"/>
          <p:cNvSpPr/>
          <p:nvPr/>
        </p:nvSpPr>
        <p:spPr>
          <a:xfrm rot="-8856809">
            <a:off x="4398500" y="2604746"/>
            <a:ext cx="786350" cy="24732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6"/>
          <p:cNvSpPr/>
          <p:nvPr/>
        </p:nvSpPr>
        <p:spPr>
          <a:xfrm rot="10800000">
            <a:off x="4314432" y="3668858"/>
            <a:ext cx="786350" cy="24732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6"/>
          <p:cNvSpPr/>
          <p:nvPr/>
        </p:nvSpPr>
        <p:spPr>
          <a:xfrm rot="8306855">
            <a:off x="5017847" y="4716840"/>
            <a:ext cx="786350" cy="24732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6"/>
          <p:cNvSpPr/>
          <p:nvPr/>
        </p:nvSpPr>
        <p:spPr>
          <a:xfrm rot="2660345">
            <a:off x="6676582" y="4706941"/>
            <a:ext cx="786350" cy="24732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16"/>
          <p:cNvSpPr/>
          <p:nvPr/>
        </p:nvSpPr>
        <p:spPr>
          <a:xfrm>
            <a:off x="6841529" y="3626332"/>
            <a:ext cx="786350" cy="24732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6"/>
          <p:cNvSpPr/>
          <p:nvPr/>
        </p:nvSpPr>
        <p:spPr>
          <a:xfrm rot="-2339376">
            <a:off x="6447185" y="2615285"/>
            <a:ext cx="786350" cy="24732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6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6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276" name="Google Shape;276;p1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277" name="Google Shape;27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/>
          <p:nvPr/>
        </p:nvSpPr>
        <p:spPr>
          <a:xfrm>
            <a:off x="1878904" y="1526922"/>
            <a:ext cx="3707704" cy="341961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7"/>
          <p:cNvSpPr/>
          <p:nvPr/>
        </p:nvSpPr>
        <p:spPr>
          <a:xfrm>
            <a:off x="5899759" y="1308031"/>
            <a:ext cx="2292263" cy="779741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7"/>
          <p:cNvSpPr txBox="1"/>
          <p:nvPr/>
        </p:nvSpPr>
        <p:spPr>
          <a:xfrm>
            <a:off x="2064290" y="1482445"/>
            <a:ext cx="735778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Keras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a High-level neural networks API, Written in Python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7"/>
          <p:cNvSpPr/>
          <p:nvPr/>
        </p:nvSpPr>
        <p:spPr>
          <a:xfrm>
            <a:off x="629504" y="476592"/>
            <a:ext cx="4371584" cy="45089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7"/>
          <p:cNvSpPr txBox="1"/>
          <p:nvPr/>
        </p:nvSpPr>
        <p:spPr>
          <a:xfrm>
            <a:off x="1047176" y="395288"/>
            <a:ext cx="517324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98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Keras ?</a:t>
            </a:r>
            <a:endParaRPr sz="4400" b="1">
              <a:solidFill>
                <a:srgbClr val="FF98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3" name="Google Shape;283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372" y="2682946"/>
            <a:ext cx="1775493" cy="1676112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17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7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292" name="Google Shape;292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18"/>
          <p:cNvSpPr/>
          <p:nvPr/>
        </p:nvSpPr>
        <p:spPr>
          <a:xfrm>
            <a:off x="2815296" y="2560393"/>
            <a:ext cx="5047989" cy="463463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8"/>
          <p:cNvSpPr/>
          <p:nvPr/>
        </p:nvSpPr>
        <p:spPr>
          <a:xfrm>
            <a:off x="7941501" y="2023963"/>
            <a:ext cx="2505206" cy="150837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 txBox="1"/>
          <p:nvPr/>
        </p:nvSpPr>
        <p:spPr>
          <a:xfrm>
            <a:off x="2893894" y="2623746"/>
            <a:ext cx="862754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Keras minimizes the number of user actions required for common use cases, and provides clear and actionable feedback upon user error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629504" y="476592"/>
            <a:ext cx="4371584" cy="45089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 txBox="1"/>
          <p:nvPr/>
        </p:nvSpPr>
        <p:spPr>
          <a:xfrm>
            <a:off x="1047176" y="395288"/>
            <a:ext cx="517324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98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Keras ?</a:t>
            </a:r>
            <a:endParaRPr sz="4400" b="1">
              <a:solidFill>
                <a:srgbClr val="FF98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8" name="Google Shape;298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372" y="2682946"/>
            <a:ext cx="1775493" cy="1676112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18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306" name="Google Shape;306;p19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307" name="Google Shape;307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19"/>
          <p:cNvSpPr/>
          <p:nvPr/>
        </p:nvSpPr>
        <p:spPr>
          <a:xfrm>
            <a:off x="2956142" y="3857414"/>
            <a:ext cx="7189940" cy="439013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629504" y="476592"/>
            <a:ext cx="4371584" cy="45089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1047176" y="395288"/>
            <a:ext cx="517324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98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Keras ?</a:t>
            </a:r>
            <a:endParaRPr sz="4400" b="1">
              <a:solidFill>
                <a:srgbClr val="FF98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1" name="Google Shape;31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372" y="2682946"/>
            <a:ext cx="1775493" cy="1676112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19"/>
          <p:cNvSpPr/>
          <p:nvPr/>
        </p:nvSpPr>
        <p:spPr>
          <a:xfrm>
            <a:off x="9601200" y="2103120"/>
            <a:ext cx="1775493" cy="356616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9"/>
          <p:cNvSpPr txBox="1"/>
          <p:nvPr/>
        </p:nvSpPr>
        <p:spPr>
          <a:xfrm>
            <a:off x="2956142" y="3880929"/>
            <a:ext cx="8790486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Allows for easy and fast prototyping (through user friendliness, modularity and extensibility) 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9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321" name="Google Shape;321;p2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322" name="Google Shape;322;p2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0"/>
          <p:cNvSpPr/>
          <p:nvPr/>
        </p:nvSpPr>
        <p:spPr>
          <a:xfrm>
            <a:off x="1874449" y="5120640"/>
            <a:ext cx="10058400" cy="1450757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/>
          <p:nvPr/>
        </p:nvSpPr>
        <p:spPr>
          <a:xfrm>
            <a:off x="7678455" y="3857414"/>
            <a:ext cx="2492679" cy="1704142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0"/>
          <p:cNvSpPr txBox="1"/>
          <p:nvPr/>
        </p:nvSpPr>
        <p:spPr>
          <a:xfrm>
            <a:off x="2099362" y="5068994"/>
            <a:ext cx="8995358" cy="40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integration with TensorFlow, Theano and Runs seamlessly on CPU and GPUs</a:t>
            </a:r>
            <a:endParaRPr sz="2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0"/>
          <p:cNvSpPr/>
          <p:nvPr/>
        </p:nvSpPr>
        <p:spPr>
          <a:xfrm>
            <a:off x="629504" y="476592"/>
            <a:ext cx="4371584" cy="45089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20"/>
          <p:cNvSpPr txBox="1"/>
          <p:nvPr/>
        </p:nvSpPr>
        <p:spPr>
          <a:xfrm>
            <a:off x="1047176" y="395288"/>
            <a:ext cx="517324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98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Keras ?</a:t>
            </a:r>
            <a:endParaRPr sz="4400" b="1">
              <a:solidFill>
                <a:srgbClr val="FF98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8" name="Google Shape;328;p2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5372" y="2682946"/>
            <a:ext cx="1775493" cy="1676112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0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5" name="Google Shape;335;p21"/>
          <p:cNvPicPr preferRelativeResize="0"/>
          <p:nvPr/>
        </p:nvPicPr>
        <p:blipFill rotWithShape="1">
          <a:blip r:embed="rId3">
            <a:alphaModFix/>
          </a:blip>
          <a:srcRect l="5239" t="15815" r="5383" b="15824"/>
          <a:stretch/>
        </p:blipFill>
        <p:spPr>
          <a:xfrm>
            <a:off x="1209178" y="2104373"/>
            <a:ext cx="9773643" cy="3845491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1"/>
          <p:cNvSpPr txBox="1"/>
          <p:nvPr/>
        </p:nvSpPr>
        <p:spPr>
          <a:xfrm>
            <a:off x="1340284" y="908136"/>
            <a:ext cx="6150279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1">
                <a:solidFill>
                  <a:srgbClr val="FF980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Keras - Architecture </a:t>
            </a:r>
            <a:endParaRPr sz="4400" b="1">
              <a:solidFill>
                <a:srgbClr val="FF980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2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</a:pPr>
            <a:endParaRPr/>
          </a:p>
        </p:txBody>
      </p:sp>
      <p:sp>
        <p:nvSpPr>
          <p:cNvPr id="342" name="Google Shape;342;p22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rmAutofit/>
          </a:bodyPr>
          <a:lstStyle/>
          <a:p>
            <a:pPr marL="9144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endParaRPr/>
          </a:p>
        </p:txBody>
      </p:sp>
      <p:pic>
        <p:nvPicPr>
          <p:cNvPr id="343" name="Google Shape;343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44" name="Google Shape;344;p22"/>
          <p:cNvSpPr/>
          <p:nvPr/>
        </p:nvSpPr>
        <p:spPr>
          <a:xfrm>
            <a:off x="175364" y="1277655"/>
            <a:ext cx="11348581" cy="4591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45" name="Google Shape;345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02155" y="3113410"/>
            <a:ext cx="1419423" cy="1238423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2"/>
          <p:cNvSpPr/>
          <p:nvPr/>
        </p:nvSpPr>
        <p:spPr>
          <a:xfrm>
            <a:off x="4872624" y="2901678"/>
            <a:ext cx="814192" cy="425885"/>
          </a:xfrm>
          <a:prstGeom prst="ellipse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2"/>
          <p:cNvSpPr/>
          <p:nvPr/>
        </p:nvSpPr>
        <p:spPr>
          <a:xfrm>
            <a:off x="6273819" y="2969602"/>
            <a:ext cx="814192" cy="425885"/>
          </a:xfrm>
          <a:prstGeom prst="ellipse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2"/>
          <p:cNvSpPr txBox="1"/>
          <p:nvPr/>
        </p:nvSpPr>
        <p:spPr>
          <a:xfrm>
            <a:off x="7525073" y="1983461"/>
            <a:ext cx="385737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Deep enough to build serious models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2"/>
          <p:cNvSpPr txBox="1"/>
          <p:nvPr/>
        </p:nvSpPr>
        <p:spPr>
          <a:xfrm>
            <a:off x="922139" y="3474751"/>
            <a:ext cx="326698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Supports Modularity and Easy Extensibility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2"/>
          <p:cNvSpPr txBox="1"/>
          <p:nvPr/>
        </p:nvSpPr>
        <p:spPr>
          <a:xfrm>
            <a:off x="7525073" y="5060364"/>
            <a:ext cx="434023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 – written document and runs seamlessly on CPU and GPU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2"/>
          <p:cNvSpPr txBox="1"/>
          <p:nvPr/>
        </p:nvSpPr>
        <p:spPr>
          <a:xfrm>
            <a:off x="646663" y="5148117"/>
            <a:ext cx="421882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 to get started, simple to keep going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2"/>
          <p:cNvSpPr txBox="1"/>
          <p:nvPr/>
        </p:nvSpPr>
        <p:spPr>
          <a:xfrm>
            <a:off x="755913" y="1995492"/>
            <a:ext cx="37273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Fast prototyping and Supports CNN, RNN and combination of both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22"/>
          <p:cNvSpPr txBox="1"/>
          <p:nvPr/>
        </p:nvSpPr>
        <p:spPr>
          <a:xfrm>
            <a:off x="7863002" y="3327563"/>
            <a:ext cx="38573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Has a faster compilation time than other Deep Learning APIs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2"/>
          <p:cNvSpPr/>
          <p:nvPr/>
        </p:nvSpPr>
        <p:spPr>
          <a:xfrm rot="-8856809">
            <a:off x="4398500" y="2604746"/>
            <a:ext cx="786350" cy="24732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22"/>
          <p:cNvSpPr/>
          <p:nvPr/>
        </p:nvSpPr>
        <p:spPr>
          <a:xfrm rot="10800000">
            <a:off x="4314432" y="3668858"/>
            <a:ext cx="786350" cy="24732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2"/>
          <p:cNvSpPr/>
          <p:nvPr/>
        </p:nvSpPr>
        <p:spPr>
          <a:xfrm rot="8306855">
            <a:off x="5017847" y="4716840"/>
            <a:ext cx="786350" cy="24732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22"/>
          <p:cNvSpPr/>
          <p:nvPr/>
        </p:nvSpPr>
        <p:spPr>
          <a:xfrm rot="2660345">
            <a:off x="6676582" y="4706941"/>
            <a:ext cx="786350" cy="24732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6841529" y="3626332"/>
            <a:ext cx="786350" cy="24732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 rot="-2339376">
            <a:off x="6447185" y="2615285"/>
            <a:ext cx="786350" cy="24732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5875" cap="flat" cmpd="sng">
            <a:solidFill>
              <a:srgbClr val="60370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429225" y="428186"/>
            <a:ext cx="4080145" cy="58462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1058051" y="428186"/>
            <a:ext cx="3857377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>
                <a:solidFill>
                  <a:srgbClr val="FF9801"/>
                </a:solidFill>
                <a:latin typeface="Calibri"/>
                <a:ea typeface="Calibri"/>
                <a:cs typeface="Calibri"/>
                <a:sym typeface="Calibri"/>
              </a:rPr>
              <a:t>Why Keras ?</a:t>
            </a:r>
            <a:endParaRPr sz="4000" b="1">
              <a:solidFill>
                <a:srgbClr val="FF980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2" name="Google Shape;362;p2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243127" y="388928"/>
            <a:ext cx="731124" cy="690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22"/>
          <p:cNvSpPr/>
          <p:nvPr/>
        </p:nvSpPr>
        <p:spPr>
          <a:xfrm>
            <a:off x="10133556" y="6100175"/>
            <a:ext cx="1916482" cy="563672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141962" y="6172507"/>
            <a:ext cx="3638810" cy="678439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push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23"/>
          <p:cNvSpPr/>
          <p:nvPr/>
        </p:nvSpPr>
        <p:spPr>
          <a:xfrm>
            <a:off x="814192" y="1503123"/>
            <a:ext cx="11235846" cy="726510"/>
          </a:xfrm>
          <a:prstGeom prst="rect">
            <a:avLst/>
          </a:prstGeom>
          <a:solidFill>
            <a:schemeClr val="lt1"/>
          </a:solidFill>
          <a:ln w="158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3"/>
          <p:cNvSpPr txBox="1"/>
          <p:nvPr/>
        </p:nvSpPr>
        <p:spPr>
          <a:xfrm>
            <a:off x="2425874" y="2464495"/>
            <a:ext cx="7340251" cy="13234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!!</a:t>
            </a:r>
            <a:endParaRPr sz="8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297</Words>
  <Application>Microsoft Office PowerPoint</Application>
  <PresentationFormat>Widescreen</PresentationFormat>
  <Paragraphs>31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Times New Roman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pranav bire</dc:creator>
  <cp:lastModifiedBy>Vishwajit</cp:lastModifiedBy>
  <cp:revision>1</cp:revision>
  <dcterms:created xsi:type="dcterms:W3CDTF">2024-07-11T16:17:01Z</dcterms:created>
  <dcterms:modified xsi:type="dcterms:W3CDTF">2026-07-10T05:55:44Z</dcterms:modified>
</cp:coreProperties>
</file>